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69" r:id="rId4"/>
    <p:sldId id="270" r:id="rId5"/>
    <p:sldId id="258" r:id="rId6"/>
    <p:sldId id="272" r:id="rId7"/>
    <p:sldId id="259" r:id="rId8"/>
    <p:sldId id="261" r:id="rId9"/>
    <p:sldId id="262" r:id="rId10"/>
    <p:sldId id="263" r:id="rId11"/>
    <p:sldId id="265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076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BF95-9DB4-FEB7-71C8-C3130CB8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28CCF-39B5-3C63-9C33-071882CF2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6BCB8-A3C9-47FD-43FC-58FB6C197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project. The card on the right previews the end result: an automated salary slip.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B9F45-A2A9-992F-7EEC-E070BBC08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65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involves many repeated calculations. Doing them manually costs time, causes mistakes, and leaves employees dependent on HR for basic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1DED9-43ED-3B57-AB96-BD8C1AD2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4948F-3A3C-CA1A-780A-99C5A764D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F760B-8F97-81F4-0475-6C5279EC3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involves many repeated calculations. Doing them manually costs time, causes mistakes, and leaves employees dependent on HR for basic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94BC3-9EE2-1540-9A74-BFDABA29A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37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2821-384B-35F0-EE58-06CFC0605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1D459-DADC-FF45-3E19-10D6B44BF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913A2-967E-D7A8-1DFF-9A857F01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involves many repeated calculations. Doing them manually costs time, causes mistakes, and leaves employees dependent on HR for basic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61269-D86B-C822-34F5-7166D8E38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54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get self-service features. Admins manage the workforce and approve leave. Both log in through the same login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6CA2-A549-9FA0-9EFC-DBC84846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0CB81-3B7F-F7AE-401A-75C0E29AC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FBED1-F5CF-6FDB-82FB-C13B54F25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get self-service features. Admins manage the workforce and approve leave. Both log in through the same login page.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ADD0-9751-856A-1D4E-71A4387B4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3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layered design: the frontend never touches the database. Each layer has one job, which keeps the code easy to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generates the payroll details that appear on the salary slip. Inheritance and abstraction mean a new employee category only needs its own salary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Object Oriented Programming concepts from the course that the payroll core demonstrates. Abstraction, inheritance and overriding drive the salary calculation; exception handling keeps the system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and backend are separate projects. By default the data is temporary and resets when the backend restarts; PostgreSQL makes it persistent.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novelty is the combination: a clean object-oriented payroll core wrapped in a modern, role-based web app that anyone can run without installing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5BEA1-E471-3285-A568-3C1506CB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EDBD5A-0750-F783-3362-8C7F84A22F07}"/>
              </a:ext>
            </a:extLst>
          </p:cNvPr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 PROJECT · 25AI303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0116FF-14C1-C969-DB29-FC527C8A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817588"/>
            <a:ext cx="6278880" cy="210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5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3CB283-75FB-02D0-C81F-3D95B6B2F524}"/>
              </a:ext>
            </a:extLst>
          </p:cNvPr>
          <p:cNvSpPr/>
          <p:nvPr/>
        </p:nvSpPr>
        <p:spPr>
          <a:xfrm>
            <a:off x="812800" y="4100810"/>
            <a:ext cx="627888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FCB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web app for attendance, leave and salary slips, built with Java Spring Boot and React.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76DF4A-D972-BD89-44EC-2B577A777F62}"/>
              </a:ext>
            </a:extLst>
          </p:cNvPr>
          <p:cNvSpPr/>
          <p:nvPr/>
        </p:nvSpPr>
        <p:spPr>
          <a:xfrm>
            <a:off x="812800" y="5496719"/>
            <a:ext cx="62788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Kesiya John (Team Lead) · Joshua Kinder · Ashmil P · Royal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C78F70-0B90-7B40-9CD2-76288047FF0D}"/>
              </a:ext>
            </a:extLst>
          </p:cNvPr>
          <p:cNvSpPr/>
          <p:nvPr/>
        </p:nvSpPr>
        <p:spPr>
          <a:xfrm>
            <a:off x="812800" y="5796359"/>
            <a:ext cx="62788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 Oriented Programming · Faculty: Lisha L B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DD0D61C-A5A6-EDE9-3792-3B9BB9B35AB5}"/>
              </a:ext>
            </a:extLst>
          </p:cNvPr>
          <p:cNvSpPr/>
          <p:nvPr/>
        </p:nvSpPr>
        <p:spPr>
          <a:xfrm>
            <a:off x="7264400" y="1270000"/>
            <a:ext cx="4114800" cy="3494980"/>
          </a:xfrm>
          <a:prstGeom prst="roundRect">
            <a:avLst>
              <a:gd name="adj" fmla="val 4361"/>
            </a:avLst>
          </a:prstGeom>
          <a:solidFill>
            <a:srgbClr val="1F3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02233C-B502-462B-2DAE-4867CD3BA865}"/>
              </a:ext>
            </a:extLst>
          </p:cNvPr>
          <p:cNvSpPr/>
          <p:nvPr/>
        </p:nvSpPr>
        <p:spPr>
          <a:xfrm>
            <a:off x="7569200" y="15748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SALARY SLIP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50275A-F3B1-535B-B16D-9E9352C0B0E4}"/>
              </a:ext>
            </a:extLst>
          </p:cNvPr>
          <p:cNvSpPr/>
          <p:nvPr/>
        </p:nvSpPr>
        <p:spPr>
          <a:xfrm>
            <a:off x="7569200" y="2286595"/>
            <a:ext cx="3505200" cy="0"/>
          </a:xfrm>
          <a:prstGeom prst="line">
            <a:avLst/>
          </a:prstGeom>
          <a:noFill/>
          <a:ln w="6350">
            <a:solidFill>
              <a:srgbClr val="3A4D7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F80ED0A-D5E2-D7F1-4401-38F57D72B2CC}"/>
              </a:ext>
            </a:extLst>
          </p:cNvPr>
          <p:cNvSpPr/>
          <p:nvPr/>
        </p:nvSpPr>
        <p:spPr>
          <a:xfrm>
            <a:off x="7569200" y="1915120"/>
            <a:ext cx="12495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salary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4B73B8-0310-3833-D53E-21EE6F4D63E3}"/>
              </a:ext>
            </a:extLst>
          </p:cNvPr>
          <p:cNvSpPr/>
          <p:nvPr/>
        </p:nvSpPr>
        <p:spPr>
          <a:xfrm>
            <a:off x="10918825" y="1915120"/>
            <a:ext cx="155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</a:t>
            </a:r>
            <a:endParaRPr lang="en-US" sz="15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92BE372-BC6E-C60E-7BAA-378A2E71889A}"/>
              </a:ext>
            </a:extLst>
          </p:cNvPr>
          <p:cNvSpPr/>
          <p:nvPr/>
        </p:nvSpPr>
        <p:spPr>
          <a:xfrm>
            <a:off x="7569200" y="2788245"/>
            <a:ext cx="3505200" cy="0"/>
          </a:xfrm>
          <a:prstGeom prst="line">
            <a:avLst/>
          </a:prstGeom>
          <a:noFill/>
          <a:ln w="6350">
            <a:solidFill>
              <a:srgbClr val="3A4D7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9517B1-3E60-FE6B-4F60-7D2D8E547A2B}"/>
              </a:ext>
            </a:extLst>
          </p:cNvPr>
          <p:cNvSpPr/>
          <p:nvPr/>
        </p:nvSpPr>
        <p:spPr>
          <a:xfrm>
            <a:off x="7569200" y="2416770"/>
            <a:ext cx="984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Overtime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B979C1-7836-FE40-96D1-535E5A82F953}"/>
              </a:ext>
            </a:extLst>
          </p:cNvPr>
          <p:cNvSpPr/>
          <p:nvPr/>
        </p:nvSpPr>
        <p:spPr>
          <a:xfrm>
            <a:off x="10918825" y="2416770"/>
            <a:ext cx="155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B4ED9C0-92DB-D9AB-68FA-63EDA57DD652}"/>
              </a:ext>
            </a:extLst>
          </p:cNvPr>
          <p:cNvSpPr/>
          <p:nvPr/>
        </p:nvSpPr>
        <p:spPr>
          <a:xfrm>
            <a:off x="7569200" y="3289895"/>
            <a:ext cx="3505200" cy="0"/>
          </a:xfrm>
          <a:prstGeom prst="line">
            <a:avLst/>
          </a:prstGeom>
          <a:noFill/>
          <a:ln w="6350">
            <a:solidFill>
              <a:srgbClr val="3A4D7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AA5D9E4-A04B-7183-36E9-86493824D0E2}"/>
              </a:ext>
            </a:extLst>
          </p:cNvPr>
          <p:cNvSpPr/>
          <p:nvPr/>
        </p:nvSpPr>
        <p:spPr>
          <a:xfrm>
            <a:off x="7569200" y="2918420"/>
            <a:ext cx="6504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Bonus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FA65930-1A0C-8C91-97FA-FD3BABE2C205}"/>
              </a:ext>
            </a:extLst>
          </p:cNvPr>
          <p:cNvSpPr/>
          <p:nvPr/>
        </p:nvSpPr>
        <p:spPr>
          <a:xfrm>
            <a:off x="10918825" y="2918420"/>
            <a:ext cx="155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</a:t>
            </a:r>
            <a:endParaRPr lang="en-US" sz="15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4B2284B-247D-DC30-09CC-7DF9CFE8D88A}"/>
              </a:ext>
            </a:extLst>
          </p:cNvPr>
          <p:cNvSpPr/>
          <p:nvPr/>
        </p:nvSpPr>
        <p:spPr>
          <a:xfrm>
            <a:off x="7569200" y="3791545"/>
            <a:ext cx="3505200" cy="0"/>
          </a:xfrm>
          <a:prstGeom prst="line">
            <a:avLst/>
          </a:prstGeom>
          <a:noFill/>
          <a:ln w="6350">
            <a:solidFill>
              <a:srgbClr val="3A4D7A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8C8E77-F7EB-5EBB-0F44-E73FED97AD44}"/>
              </a:ext>
            </a:extLst>
          </p:cNvPr>
          <p:cNvSpPr/>
          <p:nvPr/>
        </p:nvSpPr>
        <p:spPr>
          <a:xfrm>
            <a:off x="7569200" y="3420070"/>
            <a:ext cx="12150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Deductions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F9FC303-4287-8D1B-A9D9-0E28B5FA523F}"/>
              </a:ext>
            </a:extLst>
          </p:cNvPr>
          <p:cNvSpPr/>
          <p:nvPr/>
        </p:nvSpPr>
        <p:spPr>
          <a:xfrm>
            <a:off x="10918825" y="3420070"/>
            <a:ext cx="155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</a:t>
            </a:r>
            <a:endParaRPr 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E9AC425-8E98-C7F2-F4FD-9F11BD2D20AA}"/>
              </a:ext>
            </a:extLst>
          </p:cNvPr>
          <p:cNvSpPr/>
          <p:nvPr/>
        </p:nvSpPr>
        <p:spPr>
          <a:xfrm>
            <a:off x="7569200" y="3921720"/>
            <a:ext cx="3505200" cy="538460"/>
          </a:xfrm>
          <a:prstGeom prst="roundRect">
            <a:avLst>
              <a:gd name="adj" fmla="val 14151"/>
            </a:avLst>
          </a:prstGeom>
          <a:solidFill>
            <a:srgbClr val="F2B84B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9A63C8A-561D-A9F0-0B6D-D3B3770FD604}"/>
              </a:ext>
            </a:extLst>
          </p:cNvPr>
          <p:cNvSpPr/>
          <p:nvPr/>
        </p:nvSpPr>
        <p:spPr>
          <a:xfrm>
            <a:off x="7721600" y="4048720"/>
            <a:ext cx="12133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salary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8C9BB6F-8EFC-DA8D-DCD9-4E9F0B8FBD3B}"/>
              </a:ext>
            </a:extLst>
          </p:cNvPr>
          <p:cNvSpPr/>
          <p:nvPr/>
        </p:nvSpPr>
        <p:spPr>
          <a:xfrm>
            <a:off x="10753527" y="4048720"/>
            <a:ext cx="16847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</a:t>
            </a:r>
            <a:endParaRPr lang="en-US" sz="1600" dirty="0"/>
          </a:p>
        </p:txBody>
      </p:sp>
      <p:pic>
        <p:nvPicPr>
          <p:cNvPr id="24" name="Picture 23" descr="Paper Money Meme">
            <a:extLst>
              <a:ext uri="{FF2B5EF4-FFF2-40B4-BE49-F238E27FC236}">
                <a16:creationId xmlns:a16="http://schemas.microsoft.com/office/drawing/2014/main" id="{9CFC5F8E-51D7-0F88-8105-17510AD57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855" y="4618767"/>
            <a:ext cx="2780145" cy="223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54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payroll is slow and error-prone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3380284" cy="221357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pic>
        <p:nvPicPr>
          <p:cNvPr id="5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19571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267831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Repeated work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73150" y="309483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Salary, overtime, bonus and deductions are recalculated by hand every cycle.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662984" y="2678311"/>
            <a:ext cx="295201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62984" y="3094831"/>
            <a:ext cx="295201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B0A04B-91FE-F011-DFCE-D816825890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7938" y="2086837"/>
            <a:ext cx="3202106" cy="20652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00453-8142-5F4F-09A4-180B3822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ED569-5047-2326-9581-1833AD6F2D6F}"/>
              </a:ext>
            </a:extLst>
          </p:cNvPr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998195-83BF-6D0E-3A12-FA310308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payroll is slow and error-prone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5ADFB1-DBB2-4F8D-9899-8D01B033F7CE}"/>
              </a:ext>
            </a:extLst>
          </p:cNvPr>
          <p:cNvSpPr/>
          <p:nvPr/>
        </p:nvSpPr>
        <p:spPr>
          <a:xfrm>
            <a:off x="815975" y="1938536"/>
            <a:ext cx="3380284" cy="221357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pic>
        <p:nvPicPr>
          <p:cNvPr id="5" name="Image 0" descr="Clock">
            <a:extLst>
              <a:ext uri="{FF2B5EF4-FFF2-40B4-BE49-F238E27FC236}">
                <a16:creationId xmlns:a16="http://schemas.microsoft.com/office/drawing/2014/main" id="{072E50CF-DBA6-5E26-00E6-13C5C855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195711"/>
            <a:ext cx="355600" cy="3556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8708914-63BF-A36D-8333-E85BDE8AB5BD}"/>
              </a:ext>
            </a:extLst>
          </p:cNvPr>
          <p:cNvSpPr/>
          <p:nvPr/>
        </p:nvSpPr>
        <p:spPr>
          <a:xfrm>
            <a:off x="1073150" y="267831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Repeated work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39FC05E-1C69-7D90-A494-634B32FCEB82}"/>
              </a:ext>
            </a:extLst>
          </p:cNvPr>
          <p:cNvSpPr/>
          <p:nvPr/>
        </p:nvSpPr>
        <p:spPr>
          <a:xfrm>
            <a:off x="1073150" y="309483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Salary, overtime, bonus and deductions are recalculated by hand every cycle.</a:t>
            </a:r>
            <a:endParaRPr lang="en-US" sz="15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1E4EE89-AFAB-A7F9-4CFD-D8CB7C393BE2}"/>
              </a:ext>
            </a:extLst>
          </p:cNvPr>
          <p:cNvSpPr/>
          <p:nvPr/>
        </p:nvSpPr>
        <p:spPr>
          <a:xfrm>
            <a:off x="4405809" y="1938536"/>
            <a:ext cx="3380383" cy="221357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pic>
        <p:nvPicPr>
          <p:cNvPr id="9" name="Image 1" descr="Warning">
            <a:extLst>
              <a:ext uri="{FF2B5EF4-FFF2-40B4-BE49-F238E27FC236}">
                <a16:creationId xmlns:a16="http://schemas.microsoft.com/office/drawing/2014/main" id="{2C05654F-BE28-BA24-3FA6-A894ED6857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2984" y="2195711"/>
            <a:ext cx="355600" cy="35560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4D802538-7869-4137-45C0-9B77D765B0BD}"/>
              </a:ext>
            </a:extLst>
          </p:cNvPr>
          <p:cNvSpPr/>
          <p:nvPr/>
        </p:nvSpPr>
        <p:spPr>
          <a:xfrm>
            <a:off x="4662984" y="2678311"/>
            <a:ext cx="295201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errors</a:t>
            </a:r>
            <a:endParaRPr lang="en-US" sz="19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5E3D402-EBEC-C569-15F1-A50ADC7294AE}"/>
              </a:ext>
            </a:extLst>
          </p:cNvPr>
          <p:cNvSpPr/>
          <p:nvPr/>
        </p:nvSpPr>
        <p:spPr>
          <a:xfrm>
            <a:off x="4662984" y="3094831"/>
            <a:ext cx="295201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wrong or non-numeric value can quietly produce a wrong salary.</a:t>
            </a:r>
            <a:endParaRPr lang="en-US" sz="15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2FCBECC-7075-087C-D185-A6636776B2AB}"/>
              </a:ext>
            </a:extLst>
          </p:cNvPr>
          <p:cNvSpPr/>
          <p:nvPr/>
        </p:nvSpPr>
        <p:spPr>
          <a:xfrm>
            <a:off x="8252916" y="267831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endParaRPr lang="en-US" sz="19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3B68CB7-6FF7-3090-B9C7-CAB3B9911D89}"/>
              </a:ext>
            </a:extLst>
          </p:cNvPr>
          <p:cNvSpPr/>
          <p:nvPr/>
        </p:nvSpPr>
        <p:spPr>
          <a:xfrm>
            <a:off x="8252916" y="309483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18F6893-E4D8-B5CA-7312-5A25A2883C4E}"/>
              </a:ext>
            </a:extLst>
          </p:cNvPr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8D4E208-A21D-B637-9D07-A97B673B7241}"/>
              </a:ext>
            </a:extLst>
          </p:cNvPr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pic>
        <p:nvPicPr>
          <p:cNvPr id="20" name="Picture 19" descr="Pepe the Frog Error Meme Cursor - Windows Cursors - Sweezy">
            <a:extLst>
              <a:ext uri="{FF2B5EF4-FFF2-40B4-BE49-F238E27FC236}">
                <a16:creationId xmlns:a16="http://schemas.microsoft.com/office/drawing/2014/main" id="{46036FE8-9428-7301-160C-6BE7C9DF6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173" y="2062196"/>
            <a:ext cx="4124203" cy="206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58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80120-473E-46D1-78DF-E4198AE4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8329FA-442D-115F-CC1B-9EB18E2128D6}"/>
              </a:ext>
            </a:extLst>
          </p:cNvPr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C62608-0D0B-2CBE-CA53-46F48FEB0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payroll is slow and error-prone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34DE70-BCCE-04B7-D6FD-6CEEA440DEE6}"/>
              </a:ext>
            </a:extLst>
          </p:cNvPr>
          <p:cNvSpPr/>
          <p:nvPr/>
        </p:nvSpPr>
        <p:spPr>
          <a:xfrm>
            <a:off x="815975" y="1938536"/>
            <a:ext cx="3380284" cy="221357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pic>
        <p:nvPicPr>
          <p:cNvPr id="5" name="Image 0" descr="Clock">
            <a:extLst>
              <a:ext uri="{FF2B5EF4-FFF2-40B4-BE49-F238E27FC236}">
                <a16:creationId xmlns:a16="http://schemas.microsoft.com/office/drawing/2014/main" id="{7FEBE52D-B38F-106E-7BF0-3C73E30F02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195711"/>
            <a:ext cx="355600" cy="3556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16C449A-D629-E09C-9C77-FB26F9169BE7}"/>
              </a:ext>
            </a:extLst>
          </p:cNvPr>
          <p:cNvSpPr/>
          <p:nvPr/>
        </p:nvSpPr>
        <p:spPr>
          <a:xfrm>
            <a:off x="1073150" y="267831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Repeated work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7A683D-89A2-646A-7C55-DBF3D6F81576}"/>
              </a:ext>
            </a:extLst>
          </p:cNvPr>
          <p:cNvSpPr/>
          <p:nvPr/>
        </p:nvSpPr>
        <p:spPr>
          <a:xfrm>
            <a:off x="1073150" y="309483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Salary, overtime, bonus and deductions are recalculated by hand every cycle.</a:t>
            </a:r>
            <a:endParaRPr lang="en-US" sz="15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15F1CE-AD8B-A70F-1D8D-91F5E4334B2C}"/>
              </a:ext>
            </a:extLst>
          </p:cNvPr>
          <p:cNvSpPr/>
          <p:nvPr/>
        </p:nvSpPr>
        <p:spPr>
          <a:xfrm>
            <a:off x="4405809" y="1938536"/>
            <a:ext cx="3380383" cy="221357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pic>
        <p:nvPicPr>
          <p:cNvPr id="9" name="Image 1" descr="Warning">
            <a:extLst>
              <a:ext uri="{FF2B5EF4-FFF2-40B4-BE49-F238E27FC236}">
                <a16:creationId xmlns:a16="http://schemas.microsoft.com/office/drawing/2014/main" id="{757D6E9E-F003-A188-75F5-C841FE9C54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2984" y="2195711"/>
            <a:ext cx="355600" cy="35560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B1A64659-CB8B-A392-E28A-78955BFFBD2B}"/>
              </a:ext>
            </a:extLst>
          </p:cNvPr>
          <p:cNvSpPr/>
          <p:nvPr/>
        </p:nvSpPr>
        <p:spPr>
          <a:xfrm>
            <a:off x="4662984" y="2678311"/>
            <a:ext cx="295201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errors</a:t>
            </a:r>
            <a:endParaRPr lang="en-US" sz="19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7F4C577-68EB-2B33-B8C6-C65149CDBD07}"/>
              </a:ext>
            </a:extLst>
          </p:cNvPr>
          <p:cNvSpPr/>
          <p:nvPr/>
        </p:nvSpPr>
        <p:spPr>
          <a:xfrm>
            <a:off x="4662984" y="3094831"/>
            <a:ext cx="295201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wrong or non-numeric value can quietly produce a wrong salary.</a:t>
            </a:r>
            <a:endParaRPr lang="en-US" sz="15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9DEE035-2B4E-A51F-9F61-1A676D9ECDC4}"/>
              </a:ext>
            </a:extLst>
          </p:cNvPr>
          <p:cNvSpPr/>
          <p:nvPr/>
        </p:nvSpPr>
        <p:spPr>
          <a:xfrm>
            <a:off x="7995741" y="1938536"/>
            <a:ext cx="3380284" cy="221357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pic>
        <p:nvPicPr>
          <p:cNvPr id="13" name="Image 2" descr="Users">
            <a:extLst>
              <a:ext uri="{FF2B5EF4-FFF2-40B4-BE49-F238E27FC236}">
                <a16:creationId xmlns:a16="http://schemas.microsoft.com/office/drawing/2014/main" id="{53918FD6-648D-FA12-AD29-DCFD9ECF7F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2916" y="2195711"/>
            <a:ext cx="355600" cy="35560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A3F3ECE-FB59-EA7A-FC87-119500AD3E03}"/>
              </a:ext>
            </a:extLst>
          </p:cNvPr>
          <p:cNvSpPr/>
          <p:nvPr/>
        </p:nvSpPr>
        <p:spPr>
          <a:xfrm>
            <a:off x="8252916" y="267831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self-service</a:t>
            </a:r>
            <a:endParaRPr lang="en-US" sz="19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09296C7-7AE3-D0CF-A3CD-8A917316A1B4}"/>
              </a:ext>
            </a:extLst>
          </p:cNvPr>
          <p:cNvSpPr/>
          <p:nvPr/>
        </p:nvSpPr>
        <p:spPr>
          <a:xfrm>
            <a:off x="8252916" y="309483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Employees must ask HR for attendance, leave status and salary slips.</a:t>
            </a:r>
            <a:endParaRPr lang="en-US" sz="15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C4DBF36-AD1C-8AC5-079E-7B509D0AB769}"/>
              </a:ext>
            </a:extLst>
          </p:cNvPr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6D732EC-4BB2-92DE-4A93-519001CE9FF1}"/>
              </a:ext>
            </a:extLst>
          </p:cNvPr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AF667A-88BF-913A-5702-6FF70B6815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3150" y="1742566"/>
            <a:ext cx="2590266" cy="435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3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9055" y="2013527"/>
            <a:ext cx="10883392" cy="2179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8800" b="1" kern="0" spc="200" dirty="0">
                <a:solidFill>
                  <a:srgbClr val="0E7466"/>
                </a:solidFill>
                <a:latin typeface="Lucida Sans" panose="020B0602030504020204" pitchFamily="34" charset="0"/>
                <a:ea typeface="DM Sans" pitchFamily="34" charset="-122"/>
                <a:cs typeface="DM Sans" pitchFamily="34" charset="-120"/>
              </a:rPr>
              <a:t>OUR SOLUTION</a:t>
            </a:r>
            <a:endParaRPr lang="en-US" sz="8800" dirty="0">
              <a:latin typeface="Lucida Sans" panose="020B060203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pic>
        <p:nvPicPr>
          <p:cNvPr id="14" name="Picture 13" descr="99 problems, one solution: money 💸💯">
            <a:extLst>
              <a:ext uri="{FF2B5EF4-FFF2-40B4-BE49-F238E27FC236}">
                <a16:creationId xmlns:a16="http://schemas.microsoft.com/office/drawing/2014/main" id="{3427C812-EFD4-8908-6CA7-F12B2327AF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36" b="202"/>
          <a:stretch>
            <a:fillRect/>
          </a:stretch>
        </p:blipFill>
        <p:spPr>
          <a:xfrm>
            <a:off x="6790205" y="2469572"/>
            <a:ext cx="5146964" cy="4388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39223-1315-494A-8AD7-D3730BEA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F87AA7-EC17-28FF-F0E5-82EB788A400E}"/>
              </a:ext>
            </a:extLst>
          </p:cNvPr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67221C-53BF-50CF-5E77-22EBAC81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system, two types of users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A61E06-6438-69CC-89AE-7AE33C938B04}"/>
              </a:ext>
            </a:extLst>
          </p:cNvPr>
          <p:cNvSpPr/>
          <p:nvPr/>
        </p:nvSpPr>
        <p:spPr>
          <a:xfrm>
            <a:off x="815975" y="1938536"/>
            <a:ext cx="5181600" cy="2430760"/>
          </a:xfrm>
          <a:prstGeom prst="roundRect">
            <a:avLst>
              <a:gd name="adj" fmla="val 509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F4E766-427F-8238-653A-A167C18BD332}"/>
              </a:ext>
            </a:extLst>
          </p:cNvPr>
          <p:cNvSpPr/>
          <p:nvPr/>
        </p:nvSpPr>
        <p:spPr>
          <a:xfrm>
            <a:off x="1073150" y="2195711"/>
            <a:ext cx="480726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A3D475-8519-6F6C-9183-D0894DF732E2}"/>
              </a:ext>
            </a:extLst>
          </p:cNvPr>
          <p:cNvSpPr/>
          <p:nvPr/>
        </p:nvSpPr>
        <p:spPr>
          <a:xfrm>
            <a:off x="1144270" y="2683371"/>
            <a:ext cx="4728527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a personal dashboard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yourself present or absent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attendance totals and percentage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leave requests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your salary slip</a:t>
            </a: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D0203B7-D3EE-102B-6C8B-303A46AE974D}"/>
              </a:ext>
            </a:extLst>
          </p:cNvPr>
          <p:cNvSpPr/>
          <p:nvPr/>
        </p:nvSpPr>
        <p:spPr>
          <a:xfrm>
            <a:off x="6203950" y="1935361"/>
            <a:ext cx="5175250" cy="2437110"/>
          </a:xfrm>
          <a:prstGeom prst="roundRect">
            <a:avLst>
              <a:gd name="adj" fmla="val 5211"/>
            </a:avLst>
          </a:prstGeom>
          <a:solidFill>
            <a:srgbClr val="14213D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FC8304-28B8-A4B8-2323-1FB21F487E13}"/>
              </a:ext>
            </a:extLst>
          </p:cNvPr>
          <p:cNvSpPr/>
          <p:nvPr/>
        </p:nvSpPr>
        <p:spPr>
          <a:xfrm>
            <a:off x="6457950" y="2189361"/>
            <a:ext cx="480726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DAFBAB-B38F-AA52-FF6B-6E46136D2968}"/>
              </a:ext>
            </a:extLst>
          </p:cNvPr>
          <p:cNvSpPr/>
          <p:nvPr/>
        </p:nvSpPr>
        <p:spPr>
          <a:xfrm>
            <a:off x="6529070" y="2677021"/>
            <a:ext cx="4728527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employee and today's attendance totals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or remove employees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leave requests</a:t>
            </a:r>
            <a:endParaRPr lang="en-US" sz="1500" dirty="0"/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 or reject leave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A7D0342-63DD-C4C1-9680-175E1F20146A}"/>
              </a:ext>
            </a:extLst>
          </p:cNvPr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5404E91-082D-0B2A-E7DE-B79C4F8FDEE9}"/>
              </a:ext>
            </a:extLst>
          </p:cNvPr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pic>
        <p:nvPicPr>
          <p:cNvPr id="13" name="Picture 12" descr="99 problems, one solution: money 💸💯">
            <a:extLst>
              <a:ext uri="{FF2B5EF4-FFF2-40B4-BE49-F238E27FC236}">
                <a16:creationId xmlns:a16="http://schemas.microsoft.com/office/drawing/2014/main" id="{0192DD7C-FE93-78B2-6A4D-5F238A670E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36" b="202"/>
          <a:stretch>
            <a:fillRect/>
          </a:stretch>
        </p:blipFill>
        <p:spPr>
          <a:xfrm>
            <a:off x="9651999" y="4969164"/>
            <a:ext cx="2285169" cy="188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29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2143125" cy="15301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44911"/>
            <a:ext cx="1782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434431"/>
            <a:ext cx="178228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app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2350" y="2800152"/>
            <a:ext cx="178228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Pages, routing and styling</a:t>
            </a:r>
            <a:endParaRPr lang="en-US" sz="13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20222" y="2589312"/>
            <a:ext cx="355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8448" y="1898848"/>
            <a:ext cx="2143125" cy="15301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6280" y="2182921"/>
            <a:ext cx="1782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6280" y="2472441"/>
            <a:ext cx="178228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231411" y="2835126"/>
            <a:ext cx="178228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and route requests</a:t>
            </a:r>
            <a:endParaRPr lang="en-US" sz="13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64199" y="2549624"/>
            <a:ext cx="35560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242425" y="1941711"/>
            <a:ext cx="2136775" cy="1523802"/>
          </a:xfrm>
          <a:prstGeom prst="roundRect">
            <a:avLst>
              <a:gd name="adj" fmla="val 8334"/>
            </a:avLst>
          </a:prstGeom>
          <a:solidFill>
            <a:srgbClr val="14213D"/>
          </a:solidFill>
          <a:ln/>
        </p:spPr>
      </p:sp>
      <p:sp>
        <p:nvSpPr>
          <p:cNvPr id="20" name="Text 15"/>
          <p:cNvSpPr/>
          <p:nvPr/>
        </p:nvSpPr>
        <p:spPr>
          <a:xfrm>
            <a:off x="9445625" y="2144911"/>
            <a:ext cx="1782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445625" y="2434431"/>
            <a:ext cx="178228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9445625" y="2800152"/>
            <a:ext cx="178228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CB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JPA repositories on H2 or PostgreSQL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31850" y="3776662"/>
            <a:ext cx="0" cy="711200"/>
          </a:xfrm>
          <a:prstGeom prst="line">
            <a:avLst/>
          </a:prstGeom>
          <a:noFill/>
          <a:ln w="38100">
            <a:solidFill>
              <a:srgbClr val="0E746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54100" y="3827463"/>
            <a:ext cx="106348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React app runs at </a:t>
            </a: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127.0.0.1:5173</a:t>
            </a: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calls the Spring Boot API at </a:t>
            </a: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localhost:8080/api</a:t>
            </a: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054100" y="4170363"/>
            <a:ext cx="106348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Results travel back through the same layers and React updates the page.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PAYROLL ENGINE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salary is calculated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5175250" cy="3770313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073150" y="219571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Salary formula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73150" y="2932906"/>
            <a:ext cx="4660900" cy="0"/>
          </a:xfrm>
          <a:prstGeom prst="line">
            <a:avLst/>
          </a:prstGeom>
          <a:noFill/>
          <a:ln w="6350">
            <a:solidFill>
              <a:srgbClr val="DDD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3150" y="2586831"/>
            <a:ext cx="10921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salary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73150" y="3383756"/>
            <a:ext cx="4660900" cy="0"/>
          </a:xfrm>
          <a:prstGeom prst="line">
            <a:avLst/>
          </a:prstGeom>
          <a:noFill/>
          <a:ln w="6350">
            <a:solidFill>
              <a:srgbClr val="DDDA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3150" y="3037681"/>
            <a:ext cx="10264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Overtime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73150" y="3834606"/>
            <a:ext cx="4660900" cy="0"/>
          </a:xfrm>
          <a:prstGeom prst="line">
            <a:avLst/>
          </a:prstGeom>
          <a:noFill/>
          <a:ln w="6350">
            <a:solidFill>
              <a:srgbClr val="DDD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150" y="3488531"/>
            <a:ext cx="7483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Bonus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3150" y="4285456"/>
            <a:ext cx="4660900" cy="0"/>
          </a:xfrm>
          <a:prstGeom prst="line">
            <a:avLst/>
          </a:prstGeom>
          <a:noFill/>
          <a:ln w="6350">
            <a:solidFill>
              <a:srgbClr val="DDDA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3939381"/>
            <a:ext cx="13626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Gross salary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73150" y="4736306"/>
            <a:ext cx="4660900" cy="0"/>
          </a:xfrm>
          <a:prstGeom prst="line">
            <a:avLst/>
          </a:prstGeom>
          <a:noFill/>
          <a:ln w="6350">
            <a:solidFill>
              <a:srgbClr val="DDDA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3150" y="4390231"/>
            <a:ext cx="12188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 Deductions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3150" y="4841081"/>
            <a:ext cx="4660900" cy="462260"/>
          </a:xfrm>
          <a:prstGeom prst="roundRect">
            <a:avLst>
              <a:gd name="adj" fmla="val 16484"/>
            </a:avLst>
          </a:prstGeom>
          <a:solidFill>
            <a:srgbClr val="0E7466"/>
          </a:solidFill>
          <a:ln/>
        </p:spPr>
        <p:txBody>
          <a:bodyPr wrap="square" lIns="130082" tIns="66582" rIns="0" bIns="411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Net salary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0775" y="1938536"/>
            <a:ext cx="5175250" cy="3770313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7950" y="219571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Object-oriented design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57950" y="2586831"/>
            <a:ext cx="4660900" cy="858441"/>
          </a:xfrm>
          <a:prstGeom prst="roundRect">
            <a:avLst>
              <a:gd name="adj" fmla="val 11835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35750" y="2739231"/>
            <a:ext cx="443445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(abstract)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35750" y="3061791"/>
            <a:ext cx="44344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CB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data and salary operation</a:t>
            </a:r>
            <a:endParaRPr lang="en-US" sz="1300" dirty="0"/>
          </a:p>
        </p:txBody>
      </p:sp>
      <p:pic>
        <p:nvPicPr>
          <p:cNvPr id="22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74100" y="3546872"/>
            <a:ext cx="228600" cy="3556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464300" y="4010422"/>
            <a:ext cx="4648200" cy="871141"/>
          </a:xfrm>
          <a:prstGeom prst="roundRect">
            <a:avLst>
              <a:gd name="adj" fmla="val 10934"/>
            </a:avLst>
          </a:prstGeom>
          <a:solidFill>
            <a:srgbClr val="E3F1EE"/>
          </a:solidFill>
          <a:ln w="12700">
            <a:solidFill>
              <a:srgbClr val="0E74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48450" y="4169172"/>
            <a:ext cx="44082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Specialised employee classes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48450" y="4491732"/>
            <a:ext cx="44082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F4A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Inherit and override salary rules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57950" y="4989513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Exception handling validates salary, overtime and bonus inputs.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  <p:pic>
        <p:nvPicPr>
          <p:cNvPr id="29" name="Picture 28" descr="Math Equations GIFs | Tenor">
            <a:extLst>
              <a:ext uri="{FF2B5EF4-FFF2-40B4-BE49-F238E27FC236}">
                <a16:creationId xmlns:a16="http://schemas.microsoft.com/office/drawing/2014/main" id="{52A4E127-5C57-FB9C-D6D5-B3D04094A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777" y="102862"/>
            <a:ext cx="2481431" cy="1861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 CONCEPTS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OOP concepts used in this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44911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Classes and objects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2350" y="2464891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employee is an object holding data and behaviour.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938536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2050" y="2144911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2050" y="2464891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data is kept private and reached through methods.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938536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1750" y="2144911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1750" y="2464891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abstract Employee class defines the common payroll operations.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938536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450" y="2144911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61450" y="2464891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Specialised employee classes reuse the common attributes and methods.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523258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350" y="3729633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2350" y="4049613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 overriding gives each employee type its own salary rule.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95675" y="3523258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2050" y="3729633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Constructors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02050" y="4049613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up employee ID, name, designation and basic salary.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5375" y="3523258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1750" y="3729633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1750" y="4049613"/>
            <a:ext cx="217144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try-catch checks salary, overtime and bonus inputs.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55075" y="3523258"/>
            <a:ext cx="2520950" cy="1425972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6350">
            <a:solidFill>
              <a:srgbClr val="DDDA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1450" y="3729633"/>
            <a:ext cx="21714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1450" y="4049613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Overtime, bonus and deduction logic sit in separate methods.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0E74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061"/>
          <a:ext cx="10553700" cy="1651000"/>
        </p:xfrm>
        <a:graphic>
          <a:graphicData uri="http://schemas.openxmlformats.org/drawingml/2006/table">
            <a:tbl>
              <a:tblPr/>
              <a:tblGrid>
                <a:gridCol w="1899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Layer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Technology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Role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Frontend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React 18, Vite, React Router, Tailwind CSS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Pages and styling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Backend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Java 17, Spring Boot 3.3.4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REST API and payroll logic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Database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Spring Data JPA, H2, PostgreSQL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Stores all records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1850" y="3903861"/>
            <a:ext cx="0" cy="685800"/>
          </a:xfrm>
          <a:prstGeom prst="line">
            <a:avLst/>
          </a:prstGeom>
          <a:noFill/>
          <a:ln w="38100">
            <a:solidFill>
              <a:srgbClr val="0E74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4100" y="3954661"/>
            <a:ext cx="106348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locally with no database install: H2 is the default.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4100" y="4272161"/>
            <a:ext cx="106348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DB_URL, DB_USERNAME and DB_PASSWORD to switch to PostgreSQL.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00" dirty="0"/>
          </a:p>
        </p:txBody>
      </p:sp>
      <p:pic>
        <p:nvPicPr>
          <p:cNvPr id="10" name="Picture 9" descr="Levar Burton Big Brain Theory Meme Generator">
            <a:extLst>
              <a:ext uri="{FF2B5EF4-FFF2-40B4-BE49-F238E27FC236}">
                <a16:creationId xmlns:a16="http://schemas.microsoft.com/office/drawing/2014/main" id="{BFFEC3DD-A84D-B501-2448-810DFA4A3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425" y="3821799"/>
            <a:ext cx="1804902" cy="28442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10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NOVELTY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makes our project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181600" cy="1274961"/>
          </a:xfrm>
          <a:prstGeom prst="roundRect">
            <a:avLst>
              <a:gd name="adj" fmla="val 9961"/>
            </a:avLst>
          </a:prstGeom>
          <a:solidFill>
            <a:srgbClr val="1F3159"/>
          </a:solidFill>
          <a:ln/>
        </p:spPr>
      </p:sp>
      <p:pic>
        <p:nvPicPr>
          <p:cNvPr id="5" name="Image 0" descr="Cod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1400" y="2163961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2400" y="2166541"/>
            <a:ext cx="295965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OOP-first payroll core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1400" y="2519561"/>
            <a:ext cx="4866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CB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abstract Employee class with overridable salary rules. A new employee type needs no rewrite.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7600" y="1935361"/>
            <a:ext cx="5181600" cy="1274961"/>
          </a:xfrm>
          <a:prstGeom prst="roundRect">
            <a:avLst>
              <a:gd name="adj" fmla="val 9961"/>
            </a:avLst>
          </a:prstGeom>
          <a:solidFill>
            <a:srgbClr val="1F3159"/>
          </a:solidFill>
          <a:ln/>
        </p:spPr>
      </p:sp>
      <p:pic>
        <p:nvPicPr>
          <p:cNvPr id="9" name="Image 1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6200" y="2163961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07200" y="2166541"/>
            <a:ext cx="2498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app, two roles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26200" y="2519561"/>
            <a:ext cx="4866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CB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Attendance, leave and salary slips for employees. Staff management and approvals for admins.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2800" y="3413522"/>
            <a:ext cx="5181600" cy="1274961"/>
          </a:xfrm>
          <a:prstGeom prst="roundRect">
            <a:avLst>
              <a:gd name="adj" fmla="val 9961"/>
            </a:avLst>
          </a:prstGeom>
          <a:solidFill>
            <a:srgbClr val="1F3159"/>
          </a:solidFill>
          <a:ln/>
        </p:spPr>
      </p:sp>
      <p:pic>
        <p:nvPicPr>
          <p:cNvPr id="13" name="Image 2" descr="Databas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1400" y="3642122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22400" y="3644702"/>
            <a:ext cx="310860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setup, upgradable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041400" y="3997722"/>
            <a:ext cx="4866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CB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on in-memory H2 out of the box. Three settings switch it to PostgreSQL.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97600" y="3413522"/>
            <a:ext cx="5181600" cy="1274961"/>
          </a:xfrm>
          <a:prstGeom prst="roundRect">
            <a:avLst>
              <a:gd name="adj" fmla="val 9961"/>
            </a:avLst>
          </a:prstGeom>
          <a:solidFill>
            <a:srgbClr val="1F3159"/>
          </a:solidFill>
          <a:ln/>
        </p:spPr>
      </p:sp>
      <p:pic>
        <p:nvPicPr>
          <p:cNvPr id="17" name="Image 3" descr="Link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6200" y="3642122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7200" y="3644702"/>
            <a:ext cx="233041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Decoupled layers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426200" y="3997722"/>
            <a:ext cx="4866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CB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React frontend talks to a REST API, so the interface or database can change on its own.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Payroll Management System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d of Presentation Memes">
            <a:extLst>
              <a:ext uri="{FF2B5EF4-FFF2-40B4-BE49-F238E27FC236}">
                <a16:creationId xmlns:a16="http://schemas.microsoft.com/office/drawing/2014/main" id="{3FB58F17-AEE8-A5F0-6524-FC06C527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90399"/>
      </p:ext>
    </p:extLst>
  </p:cSld>
  <p:clrMapOvr>
    <a:masterClrMapping/>
  </p:clrMapOvr>
</p:sld>
</file>

<file path=ppt/theme/theme1.xml><?xml version="1.0" encoding="utf-8"?>
<a:theme xmlns:a="http://schemas.openxmlformats.org/drawingml/2006/main" name="Employee Payroll Management System">
  <a:themeElements>
    <a:clrScheme name="Employee Payroll Management System">
      <a:dk1>
        <a:srgbClr val="14213D"/>
      </a:dk1>
      <a:lt1>
        <a:srgbClr val="F6F5F0"/>
      </a:lt1>
      <a:dk2>
        <a:srgbClr val="4D566A"/>
      </a:dk2>
      <a:lt2>
        <a:srgbClr val="DFE0DE"/>
      </a:lt2>
      <a:accent1>
        <a:srgbClr val="0E7466"/>
      </a:accent1>
      <a:accent2>
        <a:srgbClr val="F2B84B"/>
      </a:accent2>
      <a:accent3>
        <a:srgbClr val="9FB0CC"/>
      </a:accent3>
      <a:accent4>
        <a:srgbClr val="1F3159"/>
      </a:accent4>
      <a:accent5>
        <a:srgbClr val="4A5568"/>
      </a:accent5>
      <a:accent6>
        <a:srgbClr val="5B6577"/>
      </a:accent6>
      <a:hlink>
        <a:srgbClr val="0563C1"/>
      </a:hlink>
      <a:folHlink>
        <a:srgbClr val="954F72"/>
      </a:folHlink>
    </a:clrScheme>
    <a:fontScheme name="Employee Payroll Management System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946</Words>
  <Application>Microsoft Office PowerPoint</Application>
  <PresentationFormat>Widescreen</PresentationFormat>
  <Paragraphs>162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DM Sans</vt:lpstr>
      <vt:lpstr>Lucida Sans</vt:lpstr>
      <vt:lpstr>Employee Payroll Management System</vt:lpstr>
      <vt:lpstr>Employee Payroll Management System</vt:lpstr>
      <vt:lpstr>Manual payroll is slow and error-prone</vt:lpstr>
      <vt:lpstr>Manual payroll is slow and error-prone</vt:lpstr>
      <vt:lpstr>Manual payroll is slow and error-prone</vt:lpstr>
      <vt:lpstr>PowerPoint Presentation</vt:lpstr>
      <vt:lpstr>One system, two types of users</vt:lpstr>
      <vt:lpstr>System architecture</vt:lpstr>
      <vt:lpstr>How the salary is calculated</vt:lpstr>
      <vt:lpstr>OOP concepts used in this project</vt:lpstr>
      <vt:lpstr>Technology stack</vt:lpstr>
      <vt:lpstr>What makes our project different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Payroll Management System</dc:title>
  <dc:subject/>
  <dc:creator/>
  <cp:lastModifiedBy>Ashmil P</cp:lastModifiedBy>
  <cp:revision>5</cp:revision>
  <dcterms:created xsi:type="dcterms:W3CDTF">2026-10-13T10:32:54Z</dcterms:created>
  <dcterms:modified xsi:type="dcterms:W3CDTF">2026-10-21T04:38:52Z</dcterms:modified>
</cp:coreProperties>
</file>